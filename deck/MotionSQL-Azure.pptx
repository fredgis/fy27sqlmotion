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78992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61520" cy="54864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B4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SQL MOTION  </a:t>
            </a:r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 Paths to Azure SQL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75488" y="676656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D7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Migration for System Integrators  •  Adoption for ISVs  —  enabled through “SQL in a Day”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0177272" y="310896"/>
            <a:ext cx="1527048" cy="457200"/>
          </a:xfrm>
          <a:prstGeom prst="roundRect">
            <a:avLst>
              <a:gd name="adj" fmla="val 50000"/>
            </a:avLst>
          </a:prstGeom>
          <a:solidFill>
            <a:srgbClr val="00B4A6"/>
          </a:solidFill>
          <a:ln/>
        </p:spPr>
      </p:sp>
      <p:sp>
        <p:nvSpPr>
          <p:cNvPr id="7" name="Text 5"/>
          <p:cNvSpPr/>
          <p:nvPr/>
        </p:nvSpPr>
        <p:spPr>
          <a:xfrm>
            <a:off x="10177272" y="310896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44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MOTIONS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349240" cy="2697480"/>
          </a:xfrm>
          <a:prstGeom prst="rect">
            <a:avLst/>
          </a:prstGeom>
          <a:solidFill>
            <a:srgbClr val="EAF3FB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38100" dir="5400000">
              <a:srgbClr val="0B2447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71600"/>
            <a:ext cx="91440" cy="26974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1572768"/>
            <a:ext cx="1901952" cy="38404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572768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MIGRATION / SI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70632" y="1572768"/>
            <a:ext cx="2807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Integrators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04825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Migrate SQL workloads </a:t>
            </a:r>
            <a:pPr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Azure — delivered through </a:t>
            </a:r>
            <a:pPr indent="0" marL="0">
              <a:buNone/>
            </a:pPr>
            <a:r>
              <a:rPr lang="en-US" sz="15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GSIs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2505456"/>
            <a:ext cx="480060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50545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APPROACH   </a:t>
            </a:r>
            <a:pPr indent="0" marL="0"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Migration via GSI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294436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KPI  </a:t>
            </a:r>
            <a:pPr indent="0" marL="0">
              <a:buNone/>
            </a:pPr>
            <a:r>
              <a:rPr lang="en-US" sz="125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Migrate — number of opportunities (Nbr Opty)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31520" y="32369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GSI partners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474720"/>
            <a:ext cx="1011326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474720"/>
            <a:ext cx="10113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4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Capgemini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834286" y="3474720"/>
            <a:ext cx="1870862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34286" y="3474720"/>
            <a:ext cx="18708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4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Accenture / Avanade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796589" y="3474720"/>
            <a:ext cx="925373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96589" y="3474720"/>
            <a:ext cx="9253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4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NTT Data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13402" y="3474720"/>
            <a:ext cx="495605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3402" y="3474720"/>
            <a:ext cx="4956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4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31520" y="3803904"/>
            <a:ext cx="1527048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3803904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4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IBM (Nordcloud)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55080" y="1371600"/>
            <a:ext cx="5349240" cy="2697480"/>
          </a:xfrm>
          <a:prstGeom prst="rect">
            <a:avLst/>
          </a:prstGeom>
          <a:solidFill>
            <a:srgbClr val="E6F7F4"/>
          </a:solidFill>
          <a:ln w="12700">
            <a:solidFill>
              <a:srgbClr val="00B4A6"/>
            </a:solidFill>
            <a:prstDash val="solid"/>
          </a:ln>
          <a:effectLst>
            <a:outerShdw sx="100000" sy="100000" kx="0" ky="0" algn="bl" rotWithShape="0" blurRad="101600" dist="38100" dir="5400000">
              <a:srgbClr val="0B2447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55080" y="1371600"/>
            <a:ext cx="91440" cy="269748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30" name="Shape 28"/>
          <p:cNvSpPr/>
          <p:nvPr/>
        </p:nvSpPr>
        <p:spPr>
          <a:xfrm>
            <a:off x="6629400" y="1572768"/>
            <a:ext cx="1901952" cy="384048"/>
          </a:xfrm>
          <a:prstGeom prst="roundRect">
            <a:avLst>
              <a:gd name="adj" fmla="val 50000"/>
            </a:avLst>
          </a:prstGeom>
          <a:solidFill>
            <a:srgbClr val="00B4A6"/>
          </a:solidFill>
          <a:ln/>
        </p:spPr>
      </p:sp>
      <p:sp>
        <p:nvSpPr>
          <p:cNvPr id="31" name="Text 29"/>
          <p:cNvSpPr/>
          <p:nvPr/>
        </p:nvSpPr>
        <p:spPr>
          <a:xfrm>
            <a:off x="6629400" y="1572768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ADOPTION / ISV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68512" y="1572768"/>
            <a:ext cx="2807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ISV / SDC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29400" y="204825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ISVs adopt </a:t>
            </a:r>
            <a:pPr indent="0" marL="0">
              <a:buNone/>
            </a:pPr>
            <a:r>
              <a:rPr lang="en-US" sz="1500" b="1" dirty="0">
                <a:solidFill>
                  <a:srgbClr val="00B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managed database service </a:t>
            </a:r>
            <a:pPr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operate on Azure SQL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629400" y="2505456"/>
            <a:ext cx="480060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250545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APPROACH   </a:t>
            </a:r>
            <a:pPr indent="0" marL="0"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Adoption / Operate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629400" y="294436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4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KPI  </a:t>
            </a:r>
            <a:pPr indent="0" marL="0">
              <a:buNone/>
            </a:pPr>
            <a:r>
              <a:rPr lang="en-US" sz="125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Operate — % of ISVs that adopted a new service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629400" y="3236976"/>
            <a:ext cx="4800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66560" y="32369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Goal  </a:t>
            </a:r>
            <a:pPr indent="0" marL="0">
              <a:buNone/>
            </a:pPr>
            <a:r>
              <a:rPr lang="en-US" sz="1100" dirty="0">
                <a:solidFill>
                  <a:srgbClr val="3348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ISV runs a new managed database service on Azure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4279392"/>
            <a:ext cx="5074920" cy="1691640"/>
          </a:xfrm>
          <a:prstGeom prst="rect">
            <a:avLst/>
          </a:prstGeom>
          <a:solidFill>
            <a:srgbClr val="F3F7FB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4279392"/>
            <a:ext cx="91440" cy="169164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41" name="Text 39"/>
          <p:cNvSpPr/>
          <p:nvPr/>
        </p:nvSpPr>
        <p:spPr>
          <a:xfrm>
            <a:off x="658368" y="438912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244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WORK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04672" y="4700016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8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 all technical migration assets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8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 all prerequisites to accelerate migrations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8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Define the rationale — why migrate?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PG “new born”  •  SQL Server “new born”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715000" y="4279392"/>
            <a:ext cx="2148840" cy="1691640"/>
          </a:xfrm>
          <a:prstGeom prst="roundRect">
            <a:avLst>
              <a:gd name="adj" fmla="val 5405"/>
            </a:avLst>
          </a:prstGeom>
          <a:solidFill>
            <a:srgbClr val="0B2447"/>
          </a:solidFill>
          <a:ln/>
          <a:effectLst>
            <a:outerShdw sx="100000" sy="100000" kx="0" ky="0" algn="bl" rotWithShape="0" blurRad="101600" dist="38100" dir="5400000">
              <a:srgbClr val="0B2447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715000" y="4279392"/>
            <a:ext cx="2148840" cy="54864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45" name="Text 43"/>
          <p:cNvSpPr/>
          <p:nvPr/>
        </p:nvSpPr>
        <p:spPr>
          <a:xfrm>
            <a:off x="5715000" y="4480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B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</a:t>
            </a:r>
            <a:endParaRPr lang="en-US" sz="2600" dirty="0"/>
          </a:p>
        </p:txBody>
      </p:sp>
      <p:sp>
        <p:nvSpPr>
          <p:cNvPr id="46" name="Text 44"/>
          <p:cNvSpPr/>
          <p:nvPr/>
        </p:nvSpPr>
        <p:spPr>
          <a:xfrm>
            <a:off x="5715000" y="4882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SQL in a Day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5715000" y="52303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B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Enablement vehicle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852160" y="550468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7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Example: help CSPs build their own “SQL in a Day”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046720" y="4279392"/>
            <a:ext cx="3657600" cy="169164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50" name="Shape 48"/>
          <p:cNvSpPr/>
          <p:nvPr/>
        </p:nvSpPr>
        <p:spPr>
          <a:xfrm>
            <a:off x="8046720" y="4279392"/>
            <a:ext cx="91440" cy="169164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51" name="Text 49"/>
          <p:cNvSpPr/>
          <p:nvPr/>
        </p:nvSpPr>
        <p:spPr>
          <a:xfrm>
            <a:off x="8302752" y="4389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B4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ASK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8430768" y="4736592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Funding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meetings — lead STU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200" b="1" dirty="0">
                <a:solidFill>
                  <a:srgbClr val="00B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sponsor per GSI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57200" y="6089904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SQL  |  Migration via GSI (System Integrators)  •  Adoption / Operate (ISV / SDC)  |  “SQL in a Day”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FY27 SQL Motion - Two Paths to Azure SQL</dc:title>
  <dc:subject>PptxGenJS Presentation</dc:subject>
  <dc:creator>pptxmotions</dc:creator>
  <cp:lastModifiedBy>pptxmotions</cp:lastModifiedBy>
  <cp:revision>1</cp:revision>
  <dcterms:created xsi:type="dcterms:W3CDTF">2026-06-16T12:32:44Z</dcterms:created>
  <dcterms:modified xsi:type="dcterms:W3CDTF">2026-06-16T12:32:44Z</dcterms:modified>
</cp:coreProperties>
</file>